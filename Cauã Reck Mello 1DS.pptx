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66" r:id="rId4"/>
    <p:sldId id="267" r:id="rId5"/>
    <p:sldId id="268" r:id="rId6"/>
    <p:sldId id="269" r:id="rId7"/>
    <p:sldId id="270" r:id="rId8"/>
    <p:sldId id="258" r:id="rId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511"/>
    <p:restoredTop sz="96327"/>
  </p:normalViewPr>
  <p:slideViewPr>
    <p:cSldViewPr snapToGrid="0">
      <p:cViewPr varScale="1">
        <p:scale>
          <a:sx n="99" d="100"/>
          <a:sy n="99" d="100"/>
        </p:scale>
        <p:origin x="96" y="1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EC4CDF7D-CE14-F324-E21A-E4D1B1D3EA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BEA03A5B-0605-9422-3F3E-E3FCB5D478C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692010" y="4892704"/>
            <a:ext cx="4334717" cy="919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606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709CC232-D3EB-DEAC-D4F6-2814567339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6710505"/>
            <a:ext cx="12192001" cy="145732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2B7AE131-185A-030B-C14D-5CF5052BF5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09539" y="112733"/>
            <a:ext cx="432149" cy="202979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25C437E4-EF22-216D-8064-91BED8FE712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50312" y="112733"/>
            <a:ext cx="1876817" cy="88669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FAB54B22-B4C7-0C49-DC75-62B597EF4A5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434" y="6712268"/>
            <a:ext cx="12192001" cy="145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819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m 10">
            <a:extLst>
              <a:ext uri="{FF2B5EF4-FFF2-40B4-BE49-F238E27FC236}">
                <a16:creationId xmlns:a16="http://schemas.microsoft.com/office/drawing/2014/main" id="{97E04D0E-1DE7-52B5-4BE5-15B5AA82B0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01440" y="2641601"/>
            <a:ext cx="4403990" cy="933806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ECAD9FBC-7448-E582-3020-FF62976BEC9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34" y="6712268"/>
            <a:ext cx="12192001" cy="145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8231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40665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">
            <a:extLst>
              <a:ext uri="{FF2B5EF4-FFF2-40B4-BE49-F238E27FC236}">
                <a16:creationId xmlns:a16="http://schemas.microsoft.com/office/drawing/2014/main" id="{B8D3994E-2F48-AC7A-CB89-89DE77EB8EAA}"/>
              </a:ext>
            </a:extLst>
          </p:cNvPr>
          <p:cNvSpPr txBox="1">
            <a:spLocks/>
          </p:cNvSpPr>
          <p:nvPr/>
        </p:nvSpPr>
        <p:spPr>
          <a:xfrm>
            <a:off x="6202470" y="4881583"/>
            <a:ext cx="5617029" cy="1391627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Atalhos do sistema </a:t>
            </a:r>
            <a:r>
              <a:rPr lang="pt-BR" sz="1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windows</a:t>
            </a:r>
            <a:endParaRPr lang="pt-BR" sz="16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>
              <a:lnSpc>
                <a:spcPct val="150000"/>
              </a:lnSpc>
            </a:pPr>
            <a:r>
              <a:rPr lang="pt-BR" sz="16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Desenvolvimento De Sistemas Primeiro Ano</a:t>
            </a:r>
          </a:p>
          <a:p>
            <a:pPr>
              <a:lnSpc>
                <a:spcPct val="150000"/>
              </a:lnSpc>
            </a:pPr>
            <a:r>
              <a:rPr lang="pt-BR" sz="20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Cauã </a:t>
            </a:r>
            <a:r>
              <a:rPr lang="pt-BR" sz="2000" dirty="0" err="1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Reck</a:t>
            </a:r>
            <a:r>
              <a:rPr lang="pt-BR" sz="20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 Mello</a:t>
            </a:r>
          </a:p>
        </p:txBody>
      </p:sp>
      <p:pic>
        <p:nvPicPr>
          <p:cNvPr id="3" name="Imagem 2" descr="cps-removebg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85649"/>
            <a:ext cx="1676614" cy="1676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278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/>
          <p:cNvSpPr txBox="1"/>
          <p:nvPr/>
        </p:nvSpPr>
        <p:spPr>
          <a:xfrm>
            <a:off x="4076858" y="286603"/>
            <a:ext cx="40382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48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itchFamily="34" charset="0"/>
              </a:rPr>
              <a:t>Introdução</a:t>
            </a:r>
            <a:endParaRPr lang="pt-BR" sz="4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Arial" pitchFamily="34" charset="0"/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0" y="1585417"/>
            <a:ext cx="12191999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Font typeface="Arial" panose="020B0604020202020204" pitchFamily="34" charset="0"/>
              <a:buChar char="•"/>
            </a:pPr>
            <a:r>
              <a:rPr lang="pt-BR" sz="3200" b="1" i="0" dirty="0">
                <a:solidFill>
                  <a:srgbClr val="E6E8F0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Abordagem:</a:t>
            </a:r>
            <a:r>
              <a:rPr lang="pt-BR" sz="3200" b="0" i="0" dirty="0">
                <a:solidFill>
                  <a:srgbClr val="E6E8F0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 Análise técnica sobre a redução de latência operacional através do mapeamento de inputs via teclado.</a:t>
            </a:r>
          </a:p>
          <a:p>
            <a:pPr algn="ctr"/>
            <a:endParaRPr lang="pt-BR" sz="3200" b="0" i="0" dirty="0">
              <a:solidFill>
                <a:srgbClr val="E6E8F0"/>
              </a:solidFill>
              <a:effectLst/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>
              <a:buFont typeface="Arial" panose="020B0604020202020204" pitchFamily="34" charset="0"/>
              <a:buChar char="•"/>
            </a:pPr>
            <a:r>
              <a:rPr lang="pt-BR" sz="3200" b="1" i="0" dirty="0">
                <a:solidFill>
                  <a:srgbClr val="E6E8F0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Conceito:</a:t>
            </a:r>
            <a:r>
              <a:rPr lang="pt-BR" sz="3200" b="0" i="0" dirty="0">
                <a:solidFill>
                  <a:srgbClr val="E6E8F0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 Transição da interface gráfica (GUI) para comandos de atalho, visando a otimização de ciclos de trabalho e ergonomia cognitiva.</a:t>
            </a:r>
          </a:p>
          <a:p>
            <a:pPr algn="ctr"/>
            <a:endParaRPr lang="pt-BR" sz="3200" b="0" i="0" dirty="0">
              <a:solidFill>
                <a:srgbClr val="E6E8F0"/>
              </a:solidFill>
              <a:effectLst/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>
              <a:buFont typeface="Arial" panose="020B0604020202020204" pitchFamily="34" charset="0"/>
              <a:buChar char="•"/>
            </a:pPr>
            <a:r>
              <a:rPr lang="pt-BR" sz="3200" b="1" i="0" dirty="0">
                <a:solidFill>
                  <a:srgbClr val="E6E8F0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Foco:</a:t>
            </a:r>
            <a:r>
              <a:rPr lang="pt-BR" sz="3200" b="0" i="0" dirty="0">
                <a:solidFill>
                  <a:srgbClr val="E6E8F0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 Interoperabilidade entre as suítes de produtividade e o núcleo do sistema operacional.</a:t>
            </a:r>
          </a:p>
          <a:p>
            <a:pPr algn="ctr"/>
            <a:endParaRPr lang="pt-BR" sz="3000" b="1" i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itchFamily="18" charset="0"/>
            </a:endParaRPr>
          </a:p>
        </p:txBody>
      </p:sp>
      <p:pic>
        <p:nvPicPr>
          <p:cNvPr id="4" name="Imagem 3" descr="cps-removebg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8875" y="-163773"/>
            <a:ext cx="2143125" cy="2143125"/>
          </a:xfrm>
          <a:prstGeom prst="rect">
            <a:avLst/>
          </a:prstGeom>
        </p:spPr>
      </p:pic>
      <p:pic>
        <p:nvPicPr>
          <p:cNvPr id="6" name="Imagem 5" descr="Logotipo">
            <a:extLst>
              <a:ext uri="{FF2B5EF4-FFF2-40B4-BE49-F238E27FC236}">
                <a16:creationId xmlns:a16="http://schemas.microsoft.com/office/drawing/2014/main" id="{88607375-1DAE-F280-F0D0-CD90B4073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3427"/>
            <a:ext cx="2905125" cy="1571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5948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/>
          <p:cNvSpPr txBox="1"/>
          <p:nvPr/>
        </p:nvSpPr>
        <p:spPr>
          <a:xfrm>
            <a:off x="5076329" y="286603"/>
            <a:ext cx="203934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48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itchFamily="34" charset="0"/>
              </a:rPr>
              <a:t>Word</a:t>
            </a:r>
            <a:endParaRPr lang="pt-BR" sz="4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Arial" pitchFamily="34" charset="0"/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-1" y="1288798"/>
            <a:ext cx="12191999" cy="5970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Font typeface="Arial" panose="020B0604020202020204" pitchFamily="34" charset="0"/>
              <a:buChar char="•"/>
            </a:pPr>
            <a:r>
              <a:rPr lang="pt-BR" sz="3200" b="1" i="0" dirty="0">
                <a:solidFill>
                  <a:srgbClr val="E6E8F0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Ctrl + Shift + S:</a:t>
            </a:r>
            <a:r>
              <a:rPr lang="pt-BR" sz="3200" b="0" i="0" dirty="0">
                <a:solidFill>
                  <a:srgbClr val="E6E8F0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 Gestão de painel de estilos para padronização de documentos complexos.</a:t>
            </a:r>
          </a:p>
          <a:p>
            <a:pPr algn="ctr"/>
            <a:endParaRPr lang="pt-BR" sz="3200" b="0" i="0" dirty="0">
              <a:solidFill>
                <a:srgbClr val="E6E8F0"/>
              </a:solidFill>
              <a:effectLst/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>
              <a:buFont typeface="Arial" panose="020B0604020202020204" pitchFamily="34" charset="0"/>
              <a:buChar char="•"/>
            </a:pPr>
            <a:r>
              <a:rPr lang="pt-BR" sz="3200" b="1" i="0" dirty="0">
                <a:solidFill>
                  <a:srgbClr val="E6E8F0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Ctrl + K:</a:t>
            </a:r>
            <a:r>
              <a:rPr lang="pt-BR" sz="3200" b="0" i="0" dirty="0">
                <a:solidFill>
                  <a:srgbClr val="E6E8F0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 Indexação de hiperlinks e referenciamento cruzado.</a:t>
            </a:r>
          </a:p>
          <a:p>
            <a:pPr algn="ctr"/>
            <a:endParaRPr lang="pt-BR" sz="3200" b="0" i="0" dirty="0">
              <a:solidFill>
                <a:srgbClr val="E6E8F0"/>
              </a:solidFill>
              <a:effectLst/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>
              <a:buFont typeface="Arial" panose="020B0604020202020204" pitchFamily="34" charset="0"/>
              <a:buChar char="•"/>
            </a:pPr>
            <a:r>
              <a:rPr lang="pt-BR" sz="3200" b="1" i="0" dirty="0">
                <a:solidFill>
                  <a:srgbClr val="E6E8F0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Ctrl + Alt + M:</a:t>
            </a:r>
            <a:r>
              <a:rPr lang="pt-BR" sz="3200" b="0" i="0" dirty="0">
                <a:solidFill>
                  <a:srgbClr val="E6E8F0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 Inserção de metadados e comentários para revisão técnica.</a:t>
            </a:r>
          </a:p>
          <a:p>
            <a:pPr algn="ctr"/>
            <a:endParaRPr lang="pt-BR" sz="3200" b="0" i="0" dirty="0">
              <a:solidFill>
                <a:srgbClr val="E6E8F0"/>
              </a:solidFill>
              <a:effectLst/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>
              <a:buFont typeface="Arial" panose="020B0604020202020204" pitchFamily="34" charset="0"/>
              <a:buChar char="•"/>
            </a:pPr>
            <a:r>
              <a:rPr lang="pt-BR" sz="3200" b="1" i="0" dirty="0">
                <a:solidFill>
                  <a:srgbClr val="E6E8F0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Alt + Shift + Setas:</a:t>
            </a:r>
            <a:r>
              <a:rPr lang="pt-BR" sz="3200" b="0" i="0" dirty="0">
                <a:solidFill>
                  <a:srgbClr val="E6E8F0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 Reordenamento de estruturas hierárquicas em listas e tópicos</a:t>
            </a:r>
          </a:p>
          <a:p>
            <a:pPr algn="ctr"/>
            <a:endParaRPr lang="pt-BR" sz="3000" b="1" i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itchFamily="18" charset="0"/>
            </a:endParaRPr>
          </a:p>
        </p:txBody>
      </p:sp>
      <p:pic>
        <p:nvPicPr>
          <p:cNvPr id="4" name="Imagem 3" descr="cps-removebg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2912" y="-232324"/>
            <a:ext cx="2143125" cy="2143125"/>
          </a:xfrm>
          <a:prstGeom prst="rect">
            <a:avLst/>
          </a:prstGeom>
        </p:spPr>
      </p:pic>
      <p:pic>
        <p:nvPicPr>
          <p:cNvPr id="6" name="Imagem 5" descr="Logotipo">
            <a:extLst>
              <a:ext uri="{FF2B5EF4-FFF2-40B4-BE49-F238E27FC236}">
                <a16:creationId xmlns:a16="http://schemas.microsoft.com/office/drawing/2014/main" id="{88607375-1DAE-F280-F0D0-CD90B4073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3427"/>
            <a:ext cx="2905125" cy="1571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509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/>
          <p:cNvSpPr txBox="1"/>
          <p:nvPr/>
        </p:nvSpPr>
        <p:spPr>
          <a:xfrm>
            <a:off x="5097169" y="286603"/>
            <a:ext cx="19976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48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itchFamily="34" charset="0"/>
              </a:rPr>
              <a:t>Excel</a:t>
            </a:r>
            <a:endParaRPr lang="pt-BR" sz="4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Arial" pitchFamily="34" charset="0"/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1" y="1288798"/>
            <a:ext cx="1219199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F4: Ciclo de alternância entre referências absolutas, relativas e mistas em </a:t>
            </a:r>
            <a:r>
              <a:rPr lang="pt-BR" sz="3200" b="1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strings</a:t>
            </a:r>
            <a:r>
              <a:rPr lang="pt-BR" sz="3200" b="1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 de fórmulas.</a:t>
            </a:r>
          </a:p>
          <a:p>
            <a:pPr algn="ctr"/>
            <a:endParaRPr lang="pt-BR" sz="3200" b="1" i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itchFamily="18" charset="0"/>
            </a:endParaRPr>
          </a:p>
          <a:p>
            <a:pPr algn="ctr"/>
            <a:r>
              <a:rPr lang="pt-BR" sz="3200" b="1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Ctrl + Shift + L: Instanciação de filtros em vetores de dados.</a:t>
            </a:r>
          </a:p>
          <a:p>
            <a:pPr algn="ctr"/>
            <a:endParaRPr lang="pt-BR" sz="3200" b="1" i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itchFamily="18" charset="0"/>
            </a:endParaRPr>
          </a:p>
          <a:p>
            <a:pPr algn="ctr"/>
            <a:r>
              <a:rPr lang="pt-BR" sz="3200" b="1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Ctrl + Shift + $ / %: Formatação rápida de tipos de dados (Moeda e Porcentagem).</a:t>
            </a:r>
          </a:p>
          <a:p>
            <a:pPr algn="ctr"/>
            <a:endParaRPr lang="pt-BR" sz="3200" b="1" i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itchFamily="18" charset="0"/>
            </a:endParaRPr>
          </a:p>
          <a:p>
            <a:pPr algn="ctr"/>
            <a:r>
              <a:rPr lang="pt-BR" sz="3200" b="1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Alt + =: Execução da função AUTOSOMA baseada na detecção de adjacência de células numéricas.</a:t>
            </a:r>
          </a:p>
        </p:txBody>
      </p:sp>
      <p:pic>
        <p:nvPicPr>
          <p:cNvPr id="4" name="Imagem 3" descr="cps-removebg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8875" y="-232324"/>
            <a:ext cx="2143125" cy="2143125"/>
          </a:xfrm>
          <a:prstGeom prst="rect">
            <a:avLst/>
          </a:prstGeom>
        </p:spPr>
      </p:pic>
      <p:pic>
        <p:nvPicPr>
          <p:cNvPr id="6" name="Imagem 5" descr="Logotipo">
            <a:extLst>
              <a:ext uri="{FF2B5EF4-FFF2-40B4-BE49-F238E27FC236}">
                <a16:creationId xmlns:a16="http://schemas.microsoft.com/office/drawing/2014/main" id="{88607375-1DAE-F280-F0D0-CD90B4073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3427"/>
            <a:ext cx="2905125" cy="1571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574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/>
          <p:cNvSpPr txBox="1"/>
          <p:nvPr/>
        </p:nvSpPr>
        <p:spPr>
          <a:xfrm>
            <a:off x="4006328" y="286603"/>
            <a:ext cx="41793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48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itchFamily="34" charset="0"/>
              </a:rPr>
              <a:t>PowerPoint</a:t>
            </a:r>
            <a:endParaRPr lang="pt-BR" sz="4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Arial" pitchFamily="34" charset="0"/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-1" y="1288798"/>
            <a:ext cx="1219199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Ctrl + D: Clonagem de objetos com preservação de deslocamento vetorial.</a:t>
            </a:r>
          </a:p>
          <a:p>
            <a:pPr algn="ctr"/>
            <a:endParaRPr lang="pt-BR" sz="3200" b="1" i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itchFamily="18" charset="0"/>
            </a:endParaRPr>
          </a:p>
          <a:p>
            <a:pPr algn="ctr"/>
            <a:r>
              <a:rPr lang="pt-BR" sz="3200" b="1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Shift + F5: Execução de </a:t>
            </a:r>
            <a:r>
              <a:rPr lang="pt-BR" sz="3200" b="1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runtime</a:t>
            </a:r>
            <a:r>
              <a:rPr lang="pt-BR" sz="3200" b="1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 a partir da posição atual do deck.</a:t>
            </a:r>
          </a:p>
          <a:p>
            <a:pPr algn="ctr"/>
            <a:endParaRPr lang="pt-BR" sz="3200" b="1" i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itchFamily="18" charset="0"/>
            </a:endParaRPr>
          </a:p>
          <a:p>
            <a:pPr algn="ctr"/>
            <a:r>
              <a:rPr lang="pt-BR" sz="3200" b="1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Ctrl + G: Consolidação de elementos em grupos lógicos para manipulação em lote.</a:t>
            </a:r>
          </a:p>
          <a:p>
            <a:pPr algn="ctr"/>
            <a:endParaRPr lang="pt-BR" sz="3200" b="1" i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itchFamily="18" charset="0"/>
            </a:endParaRPr>
          </a:p>
          <a:p>
            <a:pPr algn="ctr"/>
            <a:r>
              <a:rPr lang="pt-BR" sz="3200" b="1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Alt + F10: Abertura do painel de seleção para gestão de camadas e visibilidade de objetos.</a:t>
            </a:r>
          </a:p>
        </p:txBody>
      </p:sp>
      <p:pic>
        <p:nvPicPr>
          <p:cNvPr id="4" name="Imagem 3" descr="cps-removebg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2246" y="-232324"/>
            <a:ext cx="2143125" cy="2143125"/>
          </a:xfrm>
          <a:prstGeom prst="rect">
            <a:avLst/>
          </a:prstGeom>
        </p:spPr>
      </p:pic>
      <p:pic>
        <p:nvPicPr>
          <p:cNvPr id="6" name="Imagem 5" descr="Logotipo">
            <a:extLst>
              <a:ext uri="{FF2B5EF4-FFF2-40B4-BE49-F238E27FC236}">
                <a16:creationId xmlns:a16="http://schemas.microsoft.com/office/drawing/2014/main" id="{88607375-1DAE-F280-F0D0-CD90B4073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3427"/>
            <a:ext cx="2905125" cy="1571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276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/>
          <p:cNvSpPr txBox="1"/>
          <p:nvPr/>
        </p:nvSpPr>
        <p:spPr>
          <a:xfrm>
            <a:off x="4420701" y="286603"/>
            <a:ext cx="33505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48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itchFamily="34" charset="0"/>
              </a:rPr>
              <a:t>Windows</a:t>
            </a:r>
            <a:endParaRPr lang="pt-BR" sz="4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Arial" pitchFamily="34" charset="0"/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-1" y="1288798"/>
            <a:ext cx="1219199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Win</a:t>
            </a:r>
            <a:r>
              <a:rPr lang="pt-BR" sz="3200" b="1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 + V: Gestão de cache da área de transferência (histórico de múltiplos itens).</a:t>
            </a:r>
          </a:p>
          <a:p>
            <a:pPr algn="ctr"/>
            <a:endParaRPr lang="pt-BR" sz="3200" b="1" i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itchFamily="18" charset="0"/>
            </a:endParaRPr>
          </a:p>
          <a:p>
            <a:pPr algn="ctr"/>
            <a:r>
              <a:rPr lang="pt-BR" sz="3200" b="1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Win</a:t>
            </a:r>
            <a:r>
              <a:rPr lang="pt-BR" sz="3200" b="1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 + </a:t>
            </a:r>
            <a:r>
              <a:rPr lang="pt-BR" sz="3200" b="1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Tab</a:t>
            </a:r>
            <a:r>
              <a:rPr lang="pt-BR" sz="3200" b="1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: Visualização de instâncias ativas e alternância entre áreas de trabalho virtuais.</a:t>
            </a:r>
          </a:p>
          <a:p>
            <a:pPr algn="ctr"/>
            <a:endParaRPr lang="pt-BR" sz="3200" b="1" i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itchFamily="18" charset="0"/>
            </a:endParaRPr>
          </a:p>
          <a:p>
            <a:pPr algn="ctr"/>
            <a:r>
              <a:rPr lang="pt-BR" sz="3200" b="1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Win</a:t>
            </a:r>
            <a:r>
              <a:rPr lang="pt-BR" sz="3200" b="1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 + Shift + S: </a:t>
            </a:r>
            <a:r>
              <a:rPr lang="pt-BR" sz="3200" b="1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Snipping</a:t>
            </a:r>
            <a:r>
              <a:rPr lang="pt-BR" sz="3200" b="1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 Tool para captura e processamento imediato de imagens.</a:t>
            </a:r>
          </a:p>
          <a:p>
            <a:pPr algn="ctr"/>
            <a:endParaRPr lang="pt-BR" sz="3200" b="1" i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itchFamily="18" charset="0"/>
            </a:endParaRPr>
          </a:p>
          <a:p>
            <a:pPr algn="ctr"/>
            <a:r>
              <a:rPr lang="pt-BR" sz="3200" b="1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Win</a:t>
            </a:r>
            <a:r>
              <a:rPr lang="pt-BR" sz="3200" b="1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 + X: Acesso ao menu de contexto avançado para administração do sistema (Power </a:t>
            </a:r>
            <a:r>
              <a:rPr lang="pt-BR" sz="3200" b="1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User</a:t>
            </a:r>
            <a:r>
              <a:rPr lang="pt-BR" sz="3200" b="1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itchFamily="18" charset="0"/>
              </a:rPr>
              <a:t> Menu)</a:t>
            </a:r>
          </a:p>
        </p:txBody>
      </p:sp>
      <p:pic>
        <p:nvPicPr>
          <p:cNvPr id="4" name="Imagem 3" descr="cps-removebg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2246" y="-232324"/>
            <a:ext cx="2143125" cy="2143125"/>
          </a:xfrm>
          <a:prstGeom prst="rect">
            <a:avLst/>
          </a:prstGeom>
        </p:spPr>
      </p:pic>
      <p:pic>
        <p:nvPicPr>
          <p:cNvPr id="6" name="Imagem 5" descr="Logotipo">
            <a:extLst>
              <a:ext uri="{FF2B5EF4-FFF2-40B4-BE49-F238E27FC236}">
                <a16:creationId xmlns:a16="http://schemas.microsoft.com/office/drawing/2014/main" id="{88607375-1DAE-F280-F0D0-CD90B4073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3427"/>
            <a:ext cx="2905125" cy="1571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27039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/>
          <p:cNvSpPr txBox="1"/>
          <p:nvPr/>
        </p:nvSpPr>
        <p:spPr>
          <a:xfrm>
            <a:off x="4243570" y="286603"/>
            <a:ext cx="37048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48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itchFamily="34" charset="0"/>
              </a:rPr>
              <a:t>Conclusão</a:t>
            </a:r>
            <a:endParaRPr lang="pt-BR" sz="4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Arial" pitchFamily="34" charset="0"/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0" y="1585417"/>
            <a:ext cx="12191999" cy="54784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pt-BR" sz="3200" b="1" i="1" dirty="0">
                <a:solidFill>
                  <a:srgbClr val="E6E8F0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Síntese: A proficiência em </a:t>
            </a:r>
            <a:r>
              <a:rPr lang="pt-BR" sz="3200" b="1" i="1" dirty="0" err="1">
                <a:solidFill>
                  <a:srgbClr val="E6E8F0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shortcuts</a:t>
            </a:r>
            <a:r>
              <a:rPr lang="pt-BR" sz="3200" b="1" i="1" dirty="0">
                <a:solidFill>
                  <a:srgbClr val="E6E8F0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 é um pré-requisito para a alta performance em suporte técnico e desenvolvimento.</a:t>
            </a:r>
          </a:p>
          <a:p>
            <a:pPr algn="l"/>
            <a:endParaRPr lang="pt-BR" sz="3200" b="1" i="1" dirty="0">
              <a:solidFill>
                <a:srgbClr val="E6E8F0"/>
              </a:solidFill>
              <a:effectLst/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3200" b="1" i="1" dirty="0">
                <a:solidFill>
                  <a:srgbClr val="E6E8F0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Métrica: Redução estimada de 20% no tempo de execução de tarefas repetitivas.</a:t>
            </a:r>
          </a:p>
          <a:p>
            <a:pPr algn="l"/>
            <a:endParaRPr lang="pt-BR" sz="3200" b="1" i="1" dirty="0">
              <a:solidFill>
                <a:srgbClr val="E6E8F0"/>
              </a:solidFill>
              <a:effectLst/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3200" b="1" i="1" dirty="0">
                <a:solidFill>
                  <a:srgbClr val="E6E8F0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Evolução: Recomenda-se a transição para scripts de automação conforme a complexidade das rotinas aumente.</a:t>
            </a:r>
          </a:p>
          <a:p>
            <a:pPr algn="ctr"/>
            <a:endParaRPr lang="pt-BR" sz="3000" b="1" i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itchFamily="18" charset="0"/>
            </a:endParaRPr>
          </a:p>
        </p:txBody>
      </p:sp>
      <p:pic>
        <p:nvPicPr>
          <p:cNvPr id="4" name="Imagem 3" descr="cps-removebg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8875" y="-163773"/>
            <a:ext cx="2143125" cy="2143125"/>
          </a:xfrm>
          <a:prstGeom prst="rect">
            <a:avLst/>
          </a:prstGeom>
        </p:spPr>
      </p:pic>
      <p:pic>
        <p:nvPicPr>
          <p:cNvPr id="6" name="Imagem 5" descr="Logotipo">
            <a:extLst>
              <a:ext uri="{FF2B5EF4-FFF2-40B4-BE49-F238E27FC236}">
                <a16:creationId xmlns:a16="http://schemas.microsoft.com/office/drawing/2014/main" id="{88607375-1DAE-F280-F0D0-CD90B4073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3427"/>
            <a:ext cx="2905125" cy="1571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012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1">
            <a:extLst>
              <a:ext uri="{FF2B5EF4-FFF2-40B4-BE49-F238E27FC236}">
                <a16:creationId xmlns:a16="http://schemas.microsoft.com/office/drawing/2014/main" id="{2048CA6E-79FE-BF7D-AF35-0F458ED105B9}"/>
              </a:ext>
            </a:extLst>
          </p:cNvPr>
          <p:cNvSpPr txBox="1">
            <a:spLocks/>
          </p:cNvSpPr>
          <p:nvPr/>
        </p:nvSpPr>
        <p:spPr>
          <a:xfrm>
            <a:off x="3558560" y="4804012"/>
            <a:ext cx="5074880" cy="279546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4800" b="1" i="1" dirty="0">
                <a:solidFill>
                  <a:schemeClr val="bg1"/>
                </a:solidFill>
                <a:latin typeface="Arial" pitchFamily="34" charset="0"/>
                <a:ea typeface="Verdana" panose="020B0604030504040204" pitchFamily="34" charset="0"/>
                <a:cs typeface="Arial" pitchFamily="34" charset="0"/>
              </a:rPr>
              <a:t>OBRIGADO</a:t>
            </a:r>
          </a:p>
        </p:txBody>
      </p:sp>
      <p:pic>
        <p:nvPicPr>
          <p:cNvPr id="3" name="Imagem 2" descr="cps-removebg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4438" y="436729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82271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378</Words>
  <Application>Microsoft Office PowerPoint</Application>
  <PresentationFormat>Widescreen</PresentationFormat>
  <Paragraphs>48</Paragraphs>
  <Slides>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1" baseType="lpstr">
      <vt:lpstr>Arial</vt:lpstr>
      <vt:lpstr>Verdana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Thiago Rocha</dc:creator>
  <cp:lastModifiedBy>Lab</cp:lastModifiedBy>
  <cp:revision>10</cp:revision>
  <dcterms:created xsi:type="dcterms:W3CDTF">2023-03-16T21:20:46Z</dcterms:created>
  <dcterms:modified xsi:type="dcterms:W3CDTF">2026-04-24T16:36:48Z</dcterms:modified>
</cp:coreProperties>
</file>