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8" r:id="rId2"/>
  </p:sldMasterIdLst>
  <p:sldIdLst>
    <p:sldId id="256" r:id="rId3"/>
    <p:sldId id="262" r:id="rId4"/>
    <p:sldId id="266" r:id="rId5"/>
    <p:sldId id="267" r:id="rId6"/>
    <p:sldId id="268" r:id="rId7"/>
    <p:sldId id="269" r:id="rId8"/>
    <p:sldId id="270" r:id="rId9"/>
    <p:sldId id="258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11"/>
    <p:restoredTop sz="96327"/>
  </p:normalViewPr>
  <p:slideViewPr>
    <p:cSldViewPr snapToGrid="0">
      <p:cViewPr varScale="1">
        <p:scale>
          <a:sx n="81" d="100"/>
          <a:sy n="81" d="100"/>
        </p:scale>
        <p:origin x="108" y="-23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7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EC4CDF7D-CE14-F324-E21A-E4D1B1D3EA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BEA03A5B-0605-9422-3F3E-E3FCB5D478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92010" y="4892704"/>
            <a:ext cx="4334717" cy="91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709CC232-D3EB-DEAC-D4F6-2814567339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10505"/>
            <a:ext cx="12192001" cy="145732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B7AE131-185A-030B-C14D-5CF5052BF5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09539" y="112733"/>
            <a:ext cx="432149" cy="20297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5C437E4-EF22-216D-8064-91BED8FE71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0312" y="112733"/>
            <a:ext cx="1876817" cy="88669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FAB54B22-B4C7-0C49-DC75-62B597EF4A5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434" y="6712268"/>
            <a:ext cx="12192001" cy="145732"/>
          </a:xfrm>
          <a:prstGeom prst="rect">
            <a:avLst/>
          </a:prstGeom>
        </p:spPr>
      </p:pic>
      <p:pic>
        <p:nvPicPr>
          <p:cNvPr id="2" name="Imagem 1" descr="cps-removebg-preview.png">
            <a:extLst>
              <a:ext uri="{FF2B5EF4-FFF2-40B4-BE49-F238E27FC236}">
                <a16:creationId xmlns:a16="http://schemas.microsoft.com/office/drawing/2014/main" id="{96A2F0B1-018F-9D4C-90AE-84101272AD0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048875" y="-232324"/>
            <a:ext cx="2143125" cy="2143125"/>
          </a:xfrm>
          <a:prstGeom prst="rect">
            <a:avLst/>
          </a:prstGeom>
        </p:spPr>
      </p:pic>
      <p:pic>
        <p:nvPicPr>
          <p:cNvPr id="3" name="Imagem 2" descr="Logotipo">
            <a:extLst>
              <a:ext uri="{FF2B5EF4-FFF2-40B4-BE49-F238E27FC236}">
                <a16:creationId xmlns:a16="http://schemas.microsoft.com/office/drawing/2014/main" id="{A4E5AF2A-220C-79B4-A037-13101D8B44F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53427"/>
            <a:ext cx="290512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81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525E9-F7D6-0042-4FBA-223F2B448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5688" y="365125"/>
            <a:ext cx="7956468" cy="869909"/>
          </a:xfrm>
          <a:prstGeom prst="rect">
            <a:avLst/>
          </a:prstGeom>
        </p:spPr>
        <p:txBody>
          <a:bodyPr/>
          <a:lstStyle>
            <a:lvl1pPr>
              <a:defRPr b="1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pic>
        <p:nvPicPr>
          <p:cNvPr id="3" name="Imagem 2" descr="Logotipo">
            <a:extLst>
              <a:ext uri="{FF2B5EF4-FFF2-40B4-BE49-F238E27FC236}">
                <a16:creationId xmlns:a16="http://schemas.microsoft.com/office/drawing/2014/main" id="{B52B2C8A-0763-2C27-6FA0-8B35274D4B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3427"/>
            <a:ext cx="2905125" cy="1571625"/>
          </a:xfrm>
          <a:prstGeom prst="rect">
            <a:avLst/>
          </a:prstGeom>
        </p:spPr>
      </p:pic>
      <p:pic>
        <p:nvPicPr>
          <p:cNvPr id="4" name="Imagem 3" descr="cps-removebg-preview.png">
            <a:extLst>
              <a:ext uri="{FF2B5EF4-FFF2-40B4-BE49-F238E27FC236}">
                <a16:creationId xmlns:a16="http://schemas.microsoft.com/office/drawing/2014/main" id="{414F4410-DE05-7CC7-C1AC-4E705EDC9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48875" y="-232324"/>
            <a:ext cx="2143125" cy="2143125"/>
          </a:xfrm>
          <a:prstGeom prst="rect">
            <a:avLst/>
          </a:prstGeom>
        </p:spPr>
      </p:pic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0EDC0BA6-4766-E81A-B83A-78F9968EF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37872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97E04D0E-1DE7-52B5-4BE5-15B5AA82B0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01440" y="2641601"/>
            <a:ext cx="4403990" cy="93380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ECAD9FBC-7448-E582-3020-FF62976BEC9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34" y="6712268"/>
            <a:ext cx="12192001" cy="14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23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4CAF36-3183-E399-E902-91260942F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1262FF-52F8-ACA6-1216-164903750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225A41-BD0F-049E-B9CB-35466896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5C534-AD3C-41DB-B4E7-DEBFB029BEC4}" type="datetimeFigureOut">
              <a:rPr lang="pt-BR" smtClean="0"/>
              <a:t>24/04/2026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9FCECD-224C-E264-5877-6D95040BC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F5B9B9-4A66-9DE2-5450-3F993E845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DFD3-94E5-4E28-9B2A-AA0A72A59D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51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DA054-6552-97C1-08C7-2C065196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77281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CD6E9-25D1-705D-4D4C-8D5259206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79E6BB-D742-7C37-A465-3797CAD19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AEDE03-D45C-3BE5-A076-22568C5A7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7521-8C51-4813-BF91-ED62A8AF3277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202C7A-5CE7-E5F2-39D2-C6E47154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5B5D69-6911-0C46-16CD-895F5C59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13C5-F07B-482F-913C-E6F34CF189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716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34FFB9-07EC-6172-1212-34AA32480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5FFA75-3A51-70FE-7167-396EA91FF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D51970-FFB9-A3B2-D977-60F011107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7521-8C51-4813-BF91-ED62A8AF3277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E2CDBE-4AC6-107E-3E56-8387FF288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DD5DFC-4025-0D3A-30BE-D32ACAA9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13C5-F07B-482F-913C-E6F34CF189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5513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F0CFF-A89E-B053-80AF-04D5FA6A4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26B97D-B02B-A8C7-1B10-490FF74FA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1E4DAE-9B9C-E52B-EA5C-9D972CE5F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7521-8C51-4813-BF91-ED62A8AF3277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EDD059-4B86-663B-11D1-0F25AE764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34BB2C-8EBB-E4FC-A9D1-ADE05B1C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13C5-F07B-482F-913C-E6F34CF189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5536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175C5-B658-FD2A-04AA-2BA5AC3C5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40D39-92FC-8C20-7461-C50906E2EE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052173D-D334-BB72-1D8B-2C007CC45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01A88C-5ADE-B608-C877-D1E769E60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7521-8C51-4813-BF91-ED62A8AF3277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A726A8-AD99-6791-72E3-3A4F4D749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D34FF5-D938-D72A-B529-0D21F6AD5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13C5-F07B-482F-913C-E6F34CF189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4491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AE894-00CD-8C77-D68E-E9DAF7E6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F5326D-AADA-07DC-3DB3-CE1F0826F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90DD032-856F-A3D0-B576-263E36167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0C5C19-93E0-182F-ADCC-3BC2AAD2DE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93B2CBE-62EB-AF20-3201-B5B33C694B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8C52885-8346-A889-F9D5-E3D2A1D9B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7521-8C51-4813-BF91-ED62A8AF3277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21DB69A-0C63-0FC0-AC49-7BD0C4D2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2C9F7D8-A6A5-7D07-4850-DBF8A806A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13C5-F07B-482F-913C-E6F34CF189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8752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438E3-D300-871B-8177-585A8DA8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9A6547-E984-13E8-20BE-19851830F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7521-8C51-4813-BF91-ED62A8AF3277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416B89F-7168-E63F-7888-2AF419B2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47F0AB4-012E-25AA-7157-7D4C838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13C5-F07B-482F-913C-E6F34CF189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021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1D00156-4B7C-2E3D-81EB-34942447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7521-8C51-4813-BF91-ED62A8AF3277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A308730-C701-5D31-B66F-2CDBBC403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D6B5BA-AEE2-035D-E227-ECFC0D6B8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13C5-F07B-482F-913C-E6F34CF189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9460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A571C9-F52A-5A61-0527-9ECDB726B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CFBD18-0950-F366-646F-108BDFD77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39DDDE-E2D9-8AE1-2501-A2496C2B2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4337A6-C818-71B2-1CEC-6331C024E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7521-8C51-4813-BF91-ED62A8AF3277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257A08-AABD-E7B3-FFF7-C56BA0A6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D8D8E6-827B-32EB-0F64-69934FAA5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13C5-F07B-482F-913C-E6F34CF189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641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004D5-C553-0106-4386-7BE220E06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E4264D6-CB12-92D3-ED4F-8665F3225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81DA6E-74D0-A153-8B0B-66602D4DA2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9557E6-809D-6780-BC3E-CEA864CFD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7521-8C51-4813-BF91-ED62A8AF3277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672D94-0AF3-75E0-1877-E700D18F3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36AC0E-08BB-8E75-6658-3CF035734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13C5-F07B-482F-913C-E6F34CF189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9403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C6B2E-7ACB-59D5-95E0-98485D21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25CC42-D798-2CF8-A974-3F32D8FE9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C49997-819B-95AF-0792-9D32C6946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7521-8C51-4813-BF91-ED62A8AF3277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4AD505-8D67-0BAC-938E-6EA6658DC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09552F-F936-6B7D-976E-8BE100E1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13C5-F07B-482F-913C-E6F34CF189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6916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B4FEF1E-8D37-2C31-8636-D486A3142D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68DC6A6-38CC-71CB-8146-6DF4113FE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9D5A90-DBFD-E3C0-13D2-48CB7DA72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07521-8C51-4813-BF91-ED62A8AF3277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51D6D3-7F1C-22C9-2E1A-7726F26EC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30CBB3-78F5-FD54-8361-D38BD988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A13C5-F07B-482F-913C-E6F34CF189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868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066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6" r:id="rId5"/>
    <p:sldLayoutId id="214748365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F4BE8F4-17FA-8D68-3294-438EF02BE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2012F4-30D6-4A1C-BB2B-EFDCF8A67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9CCA91-75D2-91DB-EAEC-066003B06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507521-8C51-4813-BF91-ED62A8AF3277}" type="datetimeFigureOut">
              <a:rPr lang="pt-BR" smtClean="0"/>
              <a:t>24/04/2026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C1D829-8565-4395-BCB1-47B794E130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948F7F-A8DE-7D71-28B6-C465011F4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A13C5-F07B-482F-913C-E6F34CF189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3918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B8D3994E-2F48-AC7A-CB89-89DE77EB8EAA}"/>
              </a:ext>
            </a:extLst>
          </p:cNvPr>
          <p:cNvSpPr txBox="1">
            <a:spLocks/>
          </p:cNvSpPr>
          <p:nvPr/>
        </p:nvSpPr>
        <p:spPr>
          <a:xfrm>
            <a:off x="6096000" y="4824143"/>
            <a:ext cx="5617029" cy="1221419"/>
          </a:xfrm>
          <a:prstGeom prst="rect">
            <a:avLst/>
          </a:prstGeom>
        </p:spPr>
        <p:txBody>
          <a:bodyPr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Atalhos do sistema Windows</a:t>
            </a:r>
            <a:endParaRPr lang="pt-BR" sz="160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6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Desenvolvimento De Sistemas Primeiro Ano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Cauã </a:t>
            </a:r>
            <a:r>
              <a:rPr lang="pt-BR" sz="2000" dirty="0" err="1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Reck</a:t>
            </a:r>
            <a:r>
              <a:rPr lang="pt-BR" sz="20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 Mello</a:t>
            </a:r>
          </a:p>
        </p:txBody>
      </p:sp>
      <p:pic>
        <p:nvPicPr>
          <p:cNvPr id="3" name="Imagem 2" descr="cps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9288" y="4653935"/>
            <a:ext cx="1848051" cy="1676614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8E5DFBD8-D443-FE9E-F5C0-35769DB94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4692" y="4653935"/>
            <a:ext cx="2691274" cy="139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278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076858" y="286603"/>
            <a:ext cx="40382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Introdução</a:t>
            </a:r>
            <a:endParaRPr lang="pt-BR" sz="4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Arial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1585417"/>
            <a:ext cx="12191999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E6E8F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Abordagem:</a:t>
            </a:r>
            <a:r>
              <a:rPr lang="pt-BR" sz="3200" b="0" i="0" dirty="0">
                <a:solidFill>
                  <a:srgbClr val="E6E8F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Análise técnica sobre a redução de latência operacional através do mapeamento de inputs via teclado.</a:t>
            </a:r>
          </a:p>
          <a:p>
            <a:pPr algn="ctr"/>
            <a:endParaRPr lang="pt-BR" sz="3200" b="0" i="0" dirty="0">
              <a:solidFill>
                <a:srgbClr val="E6E8F0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E6E8F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Conceito:</a:t>
            </a:r>
            <a:r>
              <a:rPr lang="pt-BR" sz="3200" b="0" i="0" dirty="0">
                <a:solidFill>
                  <a:srgbClr val="E6E8F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Transição da interface gráfica (GUI) para comandos de atalho, visando a otimização de ciclos de trabalho e ergonomia cognitiva.</a:t>
            </a:r>
          </a:p>
          <a:p>
            <a:pPr algn="ctr"/>
            <a:endParaRPr lang="pt-BR" sz="3200" b="0" i="0" dirty="0">
              <a:solidFill>
                <a:srgbClr val="E6E8F0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pt-BR" sz="3200" b="1" i="0" dirty="0">
                <a:solidFill>
                  <a:srgbClr val="E6E8F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Foco:</a:t>
            </a:r>
            <a:r>
              <a:rPr lang="pt-BR" sz="3200" b="0" i="0" dirty="0">
                <a:solidFill>
                  <a:srgbClr val="E6E8F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Interoperabilidade entre as suítes de produtividade e o núcleo do sistema operacional.</a:t>
            </a:r>
          </a:p>
          <a:p>
            <a:pPr algn="ctr"/>
            <a:endParaRPr lang="pt-BR" sz="30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</p:txBody>
      </p:sp>
      <p:pic>
        <p:nvPicPr>
          <p:cNvPr id="4" name="Imagem 3" descr="cps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535" y="-216775"/>
            <a:ext cx="2199701" cy="2126255"/>
          </a:xfrm>
          <a:prstGeom prst="rect">
            <a:avLst/>
          </a:prstGeom>
        </p:spPr>
      </p:pic>
      <p:pic>
        <p:nvPicPr>
          <p:cNvPr id="6" name="Imagem 5" descr="Logotipo">
            <a:extLst>
              <a:ext uri="{FF2B5EF4-FFF2-40B4-BE49-F238E27FC236}">
                <a16:creationId xmlns:a16="http://schemas.microsoft.com/office/drawing/2014/main" id="{88607375-1DAE-F280-F0D0-CD90B4073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427"/>
            <a:ext cx="290512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59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5076329" y="286603"/>
            <a:ext cx="20393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Word</a:t>
            </a:r>
            <a:endParaRPr lang="pt-BR" sz="4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Arial" pitchFamily="34" charset="0"/>
            </a:endParaRPr>
          </a:p>
        </p:txBody>
      </p:sp>
      <p:pic>
        <p:nvPicPr>
          <p:cNvPr id="4" name="Imagem 3" descr="cps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5" y="-232324"/>
            <a:ext cx="2143125" cy="2143125"/>
          </a:xfrm>
          <a:prstGeom prst="rect">
            <a:avLst/>
          </a:prstGeom>
        </p:spPr>
      </p:pic>
      <p:pic>
        <p:nvPicPr>
          <p:cNvPr id="6" name="Imagem 5" descr="Logotipo">
            <a:extLst>
              <a:ext uri="{FF2B5EF4-FFF2-40B4-BE49-F238E27FC236}">
                <a16:creationId xmlns:a16="http://schemas.microsoft.com/office/drawing/2014/main" id="{88607375-1DAE-F280-F0D0-CD90B4073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427"/>
            <a:ext cx="2905125" cy="157162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2EB11F-C7FB-CCBE-546A-41F670BB4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950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5097169" y="286603"/>
            <a:ext cx="19976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Excel</a:t>
            </a:r>
            <a:endParaRPr lang="pt-BR" sz="4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Arial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1" y="1288798"/>
            <a:ext cx="12191999" cy="10926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F4: Ciclo de alternância entre referências absolutas, relativas e mistas em </a:t>
            </a:r>
            <a:r>
              <a:rPr lang="pt-BR" sz="3200" b="1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strings</a:t>
            </a:r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 de fórmulas.</a:t>
            </a:r>
          </a:p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Ctrl + Shift + S: Gestão de painel de estilos para padronização de documentos complexos.</a:t>
            </a:r>
          </a:p>
          <a:p>
            <a:pPr algn="ctr"/>
            <a:endParaRPr lang="pt-BR" sz="32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Ctrl + K: Indexação de hiperlinks e referenciamento cruzado.</a:t>
            </a:r>
          </a:p>
          <a:p>
            <a:pPr algn="ctr"/>
            <a:endParaRPr lang="pt-BR" sz="32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Ctrl + Alt + M: Inserção de metadados e comentários para revisão técnica.</a:t>
            </a:r>
          </a:p>
          <a:p>
            <a:pPr algn="ctr"/>
            <a:endParaRPr lang="pt-BR" sz="32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Alt + Shift + Setas: Reordenamento de estruturas hierárquicas em listas e tópicos</a:t>
            </a:r>
          </a:p>
          <a:p>
            <a:pPr algn="ctr"/>
            <a:endParaRPr lang="pt-BR" sz="32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Ctrl + Shift + L: Instanciação de filtros em vetores de dados.</a:t>
            </a:r>
          </a:p>
          <a:p>
            <a:pPr algn="ctr"/>
            <a:endParaRPr lang="pt-BR" sz="32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Ctrl + Shift + $ / %: Formatação rápida de tipos de dados (Moeda e Porcentagem).</a:t>
            </a:r>
          </a:p>
          <a:p>
            <a:pPr algn="ctr"/>
            <a:endParaRPr lang="pt-BR" sz="32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Alt + =: Execução da função AUTOSOMA baseada na detecção de adjacência de células numéricas.</a:t>
            </a:r>
          </a:p>
        </p:txBody>
      </p:sp>
      <p:pic>
        <p:nvPicPr>
          <p:cNvPr id="4" name="Imagem 3" descr="cps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5" y="-232324"/>
            <a:ext cx="2143125" cy="2143125"/>
          </a:xfrm>
          <a:prstGeom prst="rect">
            <a:avLst/>
          </a:prstGeom>
        </p:spPr>
      </p:pic>
      <p:pic>
        <p:nvPicPr>
          <p:cNvPr id="6" name="Imagem 5" descr="Logotipo">
            <a:extLst>
              <a:ext uri="{FF2B5EF4-FFF2-40B4-BE49-F238E27FC236}">
                <a16:creationId xmlns:a16="http://schemas.microsoft.com/office/drawing/2014/main" id="{88607375-1DAE-F280-F0D0-CD90B4073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427"/>
            <a:ext cx="2905125" cy="157162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3C4493E-9109-E103-0C81-F564D1A6C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8574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006328" y="286603"/>
            <a:ext cx="41793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PowerPoint</a:t>
            </a:r>
            <a:endParaRPr lang="pt-BR" sz="4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Arial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-1" y="1288798"/>
            <a:ext cx="12191999" cy="10926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Ctrl + D: Clonagem de objetos com preservação de deslocamento vetorial.</a:t>
            </a:r>
          </a:p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Ctrl + Shift + S: Gestão de painel de estilos para padronização de documentos complexos.</a:t>
            </a:r>
          </a:p>
          <a:p>
            <a:pPr algn="ctr"/>
            <a:endParaRPr lang="pt-BR" sz="32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Ctrl + K: Indexação de hiperlinks e referenciamento cruzado.</a:t>
            </a:r>
          </a:p>
          <a:p>
            <a:pPr algn="ctr"/>
            <a:endParaRPr lang="pt-BR" sz="32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Ctrl + Alt + M: Inserção de metadados e comentários para revisão técnica.</a:t>
            </a:r>
          </a:p>
          <a:p>
            <a:pPr algn="ctr"/>
            <a:endParaRPr lang="pt-BR" sz="32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Alt + Shift + Setas: Reordenamento de estruturas hierárquicas em listas e tópicos</a:t>
            </a:r>
          </a:p>
          <a:p>
            <a:pPr algn="ctr"/>
            <a:endParaRPr lang="pt-BR" sz="32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Shift + F5: Execução de </a:t>
            </a:r>
            <a:r>
              <a:rPr lang="pt-BR" sz="3200" b="1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runtime</a:t>
            </a:r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 a partir da posição atual do deck.</a:t>
            </a:r>
          </a:p>
          <a:p>
            <a:pPr algn="ctr"/>
            <a:endParaRPr lang="pt-BR" sz="32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Ctrl + G: Consolidação de elementos em grupos lógicos para manipulação em lote.</a:t>
            </a:r>
          </a:p>
          <a:p>
            <a:pPr algn="ctr"/>
            <a:endParaRPr lang="pt-BR" sz="32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algn="ctr"/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Alt + F10: Abertura do painel de seleção para gestão de camadas e visibilidade de objetos.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C002F1-B42D-BE10-CC56-633A21CDC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5276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420701" y="286603"/>
            <a:ext cx="33505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Windows</a:t>
            </a:r>
            <a:endParaRPr lang="pt-BR" sz="4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Arial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-1" y="1288798"/>
            <a:ext cx="1219199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Win</a:t>
            </a:r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 + V: Gestão de cache da área de transferência (histórico de múltiplos itens).</a:t>
            </a:r>
          </a:p>
          <a:p>
            <a:pPr algn="ctr"/>
            <a:endParaRPr lang="pt-BR" sz="32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algn="ctr"/>
            <a:r>
              <a:rPr lang="pt-BR" sz="3200" b="1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Win</a:t>
            </a:r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 + </a:t>
            </a:r>
            <a:r>
              <a:rPr lang="pt-BR" sz="3200" b="1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Tab</a:t>
            </a:r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: Visualização de instâncias ativas e alternância entre áreas de trabalho virtuais.</a:t>
            </a:r>
          </a:p>
          <a:p>
            <a:pPr algn="ctr"/>
            <a:endParaRPr lang="pt-BR" sz="32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algn="ctr"/>
            <a:r>
              <a:rPr lang="pt-BR" sz="3200" b="1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Win</a:t>
            </a:r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 + Shift + S: </a:t>
            </a:r>
            <a:r>
              <a:rPr lang="pt-BR" sz="3200" b="1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Snipping</a:t>
            </a:r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 Tool para captura e processamento imediato de imagens.</a:t>
            </a:r>
          </a:p>
          <a:p>
            <a:pPr algn="ctr"/>
            <a:endParaRPr lang="pt-BR" sz="32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  <a:p>
            <a:pPr algn="ctr"/>
            <a:r>
              <a:rPr lang="pt-BR" sz="3200" b="1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Win</a:t>
            </a:r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 + X: Acesso ao menu de contexto avançado para administração do sistema (Power </a:t>
            </a:r>
            <a:r>
              <a:rPr lang="pt-BR" sz="3200" b="1" i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User</a:t>
            </a:r>
            <a:r>
              <a:rPr lang="pt-BR" sz="3200" b="1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itchFamily="18" charset="0"/>
              </a:rPr>
              <a:t> Menu)</a:t>
            </a:r>
          </a:p>
        </p:txBody>
      </p:sp>
      <p:pic>
        <p:nvPicPr>
          <p:cNvPr id="4" name="Imagem 3" descr="cps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5" y="-232324"/>
            <a:ext cx="2143125" cy="2143125"/>
          </a:xfrm>
          <a:prstGeom prst="rect">
            <a:avLst/>
          </a:prstGeom>
        </p:spPr>
      </p:pic>
      <p:pic>
        <p:nvPicPr>
          <p:cNvPr id="6" name="Imagem 5" descr="Logotipo">
            <a:extLst>
              <a:ext uri="{FF2B5EF4-FFF2-40B4-BE49-F238E27FC236}">
                <a16:creationId xmlns:a16="http://schemas.microsoft.com/office/drawing/2014/main" id="{88607375-1DAE-F280-F0D0-CD90B4073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427"/>
            <a:ext cx="290512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703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4243570" y="286603"/>
            <a:ext cx="37048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4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itchFamily="34" charset="0"/>
              </a:rPr>
              <a:t>Conclusão</a:t>
            </a:r>
            <a:endParaRPr lang="pt-BR" sz="44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Arial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0" y="1585417"/>
            <a:ext cx="1219199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pt-BR" sz="3200" b="1" i="1" dirty="0">
                <a:solidFill>
                  <a:srgbClr val="E6E8F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Síntese: A proficiência em </a:t>
            </a:r>
            <a:r>
              <a:rPr lang="pt-BR" sz="3200" b="1" i="1" dirty="0" err="1">
                <a:solidFill>
                  <a:srgbClr val="E6E8F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shortcuts</a:t>
            </a:r>
            <a:r>
              <a:rPr lang="pt-BR" sz="3200" b="1" i="1" dirty="0">
                <a:solidFill>
                  <a:srgbClr val="E6E8F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é um pré-requisito para a alta performance em suporte técnico e desenvolvimento.</a:t>
            </a:r>
          </a:p>
          <a:p>
            <a:pPr algn="ctr"/>
            <a:endParaRPr lang="pt-BR" sz="3200" b="1" i="1" dirty="0">
              <a:solidFill>
                <a:srgbClr val="E6E8F0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pt-BR" sz="3200" b="1" i="1" dirty="0">
                <a:solidFill>
                  <a:srgbClr val="E6E8F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Métrica: Redução estimada de 20% no tempo de execução de tarefas repetitivas.</a:t>
            </a:r>
          </a:p>
          <a:p>
            <a:pPr algn="ctr"/>
            <a:endParaRPr lang="pt-BR" sz="3200" b="1" i="1" dirty="0">
              <a:solidFill>
                <a:srgbClr val="E6E8F0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pt-BR" sz="3200" b="1" i="1" dirty="0">
                <a:solidFill>
                  <a:srgbClr val="E6E8F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Evolução: Recomenda-se a transição para scripts de automação conforme a complexidade das rotinas aumente.</a:t>
            </a:r>
          </a:p>
          <a:p>
            <a:pPr algn="ctr"/>
            <a:endParaRPr lang="pt-BR" sz="3000" b="1" i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itchFamily="18" charset="0"/>
            </a:endParaRPr>
          </a:p>
        </p:txBody>
      </p:sp>
      <p:pic>
        <p:nvPicPr>
          <p:cNvPr id="4" name="Imagem 3" descr="cps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5" y="-286439"/>
            <a:ext cx="2143125" cy="2166772"/>
          </a:xfrm>
          <a:prstGeom prst="rect">
            <a:avLst/>
          </a:prstGeom>
        </p:spPr>
      </p:pic>
      <p:pic>
        <p:nvPicPr>
          <p:cNvPr id="6" name="Imagem 5" descr="Logotipo">
            <a:extLst>
              <a:ext uri="{FF2B5EF4-FFF2-40B4-BE49-F238E27FC236}">
                <a16:creationId xmlns:a16="http://schemas.microsoft.com/office/drawing/2014/main" id="{88607375-1DAE-F280-F0D0-CD90B4073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3427"/>
            <a:ext cx="290512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012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2048CA6E-79FE-BF7D-AF35-0F458ED105B9}"/>
              </a:ext>
            </a:extLst>
          </p:cNvPr>
          <p:cNvSpPr txBox="1">
            <a:spLocks/>
          </p:cNvSpPr>
          <p:nvPr/>
        </p:nvSpPr>
        <p:spPr>
          <a:xfrm>
            <a:off x="3558560" y="5930168"/>
            <a:ext cx="5074880" cy="279546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4800" b="1" i="1" dirty="0">
                <a:solidFill>
                  <a:schemeClr val="bg1"/>
                </a:solidFill>
                <a:latin typeface="Arial" pitchFamily="34" charset="0"/>
                <a:ea typeface="Verdana" panose="020B0604030504040204" pitchFamily="34" charset="0"/>
                <a:cs typeface="Arial" pitchFamily="34" charset="0"/>
              </a:rPr>
              <a:t>OBRIGADO</a:t>
            </a:r>
          </a:p>
        </p:txBody>
      </p:sp>
      <p:pic>
        <p:nvPicPr>
          <p:cNvPr id="3" name="Imagem 2" descr="cps-removebg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436" y="3565248"/>
            <a:ext cx="2143125" cy="214312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1ABEC3BE-6412-025D-8235-6AF376B33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978" y="648286"/>
            <a:ext cx="2908044" cy="157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8227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435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Verdana</vt:lpstr>
      <vt:lpstr>Tema do Office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Rocha</dc:creator>
  <cp:lastModifiedBy>Lab</cp:lastModifiedBy>
  <cp:revision>11</cp:revision>
  <dcterms:created xsi:type="dcterms:W3CDTF">2023-03-16T21:20:46Z</dcterms:created>
  <dcterms:modified xsi:type="dcterms:W3CDTF">2026-04-24T18:05:52Z</dcterms:modified>
</cp:coreProperties>
</file>