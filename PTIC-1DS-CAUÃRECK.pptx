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58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0326" autoAdjust="0"/>
    <p:restoredTop sz="96327"/>
  </p:normalViewPr>
  <p:slideViewPr>
    <p:cSldViewPr snapToGrid="0">
      <p:cViewPr>
        <p:scale>
          <a:sx n="70" d="100"/>
          <a:sy n="70" d="100"/>
        </p:scale>
        <p:origin x="-498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68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7B356-0D32-40A3-8A74-62657684763D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0FB9E-8D57-45AD-A5A1-D1BDE5312187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E0A72-9011-49BE-9A67-6D82290AFC8B}" type="datetimeFigureOut">
              <a:rPr lang="pt-BR" smtClean="0"/>
              <a:pPr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8DFC7-3614-4E14-98A8-FF8C4E5FAC1C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13166C7A-2093-D6C3-1015-7D2F617163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00250"/>
            <a:ext cx="12192000" cy="6858000"/>
          </a:xfrm>
          <a:prstGeom prst="rect">
            <a:avLst/>
          </a:prstGeom>
        </p:spPr>
      </p:pic>
      <p:pic>
        <p:nvPicPr>
          <p:cNvPr id="13" name="Imagem 12" descr="Ícone&#10;&#10;Descrição gerada automaticamente">
            <a:extLst>
              <a:ext uri="{FF2B5EF4-FFF2-40B4-BE49-F238E27FC236}">
                <a16:creationId xmlns:a16="http://schemas.microsoft.com/office/drawing/2014/main" xmlns="" id="{A316BF18-71C4-6DFB-3899-55975135C0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0780" y="4186431"/>
            <a:ext cx="6006010" cy="2458672"/>
          </a:xfrm>
          <a:prstGeom prst="rect">
            <a:avLst/>
          </a:prstGeom>
        </p:spPr>
      </p:pic>
      <p:sp>
        <p:nvSpPr>
          <p:cNvPr id="4" name="CaixaDeTexto 3"/>
          <p:cNvSpPr txBox="1"/>
          <p:nvPr userDrawn="1"/>
        </p:nvSpPr>
        <p:spPr>
          <a:xfrm>
            <a:off x="5964073" y="4940490"/>
            <a:ext cx="6227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ATALHOS</a:t>
            </a:r>
            <a:r>
              <a:rPr lang="pt-BR" sz="1600" b="1" i="1" baseline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DO SISTEMA </a:t>
            </a:r>
            <a:r>
              <a:rPr lang="pt-BR" sz="1600" b="1" i="1" baseline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WINDOWS E PACOTE OFFICE</a:t>
            </a:r>
            <a:endParaRPr lang="pt-BR" sz="1600" b="1" i="1" baseline="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pt-BR" sz="1600" b="1" i="1" baseline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DESENVOLVIMENTO DE SISTEMAS PRIMEIRO ANO</a:t>
            </a:r>
          </a:p>
          <a:p>
            <a:pPr algn="ctr"/>
            <a:r>
              <a:rPr lang="pt-BR" sz="1600" b="1" i="1" baseline="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NOME: CAUÃ RECK MELLO</a:t>
            </a:r>
          </a:p>
        </p:txBody>
      </p:sp>
      <p:pic>
        <p:nvPicPr>
          <p:cNvPr id="5" name="Imagem 4" descr="cps-removebg-preview.png">
            <a:extLst>
              <a:ext uri="{FF2B5EF4-FFF2-40B4-BE49-F238E27FC236}">
                <a16:creationId xmlns:a16="http://schemas.microsoft.com/office/drawing/2014/main" xmlns="" id="{96A2F0B1-018F-9D4C-90AE-84101272AD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552541" y="3165969"/>
            <a:ext cx="2143125" cy="2143125"/>
          </a:xfrm>
          <a:prstGeom prst="rect">
            <a:avLst/>
          </a:prstGeom>
        </p:spPr>
      </p:pic>
      <p:pic>
        <p:nvPicPr>
          <p:cNvPr id="6" name="Imagem 5" descr="Logotipo">
            <a:extLst>
              <a:ext uri="{FF2B5EF4-FFF2-40B4-BE49-F238E27FC236}">
                <a16:creationId xmlns:a16="http://schemas.microsoft.com/office/drawing/2014/main" xmlns="" id="{A4E5AF2A-220C-79B4-A037-13101D8B44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392072" y="3493827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526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2BC81048-106F-8A9F-3659-84DE7A503A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9540" y="112734"/>
            <a:ext cx="432148" cy="20297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709CC232-D3EB-DEAC-D4F6-2814567339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2BA6CA09-CC7F-1786-B476-36C72373C4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0312" y="112734"/>
            <a:ext cx="1876817" cy="88669"/>
          </a:xfrm>
          <a:prstGeom prst="rect">
            <a:avLst/>
          </a:prstGeom>
        </p:spPr>
      </p:pic>
      <p:pic>
        <p:nvPicPr>
          <p:cNvPr id="5" name="Imagem 4" descr="Logotipo">
            <a:extLst>
              <a:ext uri="{FF2B5EF4-FFF2-40B4-BE49-F238E27FC236}">
                <a16:creationId xmlns:a16="http://schemas.microsoft.com/office/drawing/2014/main" xmlns="" id="{A4E5AF2A-220C-79B4-A037-13101D8B44F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2905125" cy="1571625"/>
          </a:xfrm>
          <a:prstGeom prst="rect">
            <a:avLst/>
          </a:prstGeom>
        </p:spPr>
      </p:pic>
      <p:pic>
        <p:nvPicPr>
          <p:cNvPr id="6" name="Imagem 5" descr="cps-removebg-preview.png">
            <a:extLst>
              <a:ext uri="{FF2B5EF4-FFF2-40B4-BE49-F238E27FC236}">
                <a16:creationId xmlns:a16="http://schemas.microsoft.com/office/drawing/2014/main" xmlns="" id="{96A2F0B1-018F-9D4C-90AE-84101272AD0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48875" y="-327858"/>
            <a:ext cx="2143125" cy="2143125"/>
          </a:xfrm>
          <a:prstGeom prst="rect">
            <a:avLst/>
          </a:prstGeom>
        </p:spPr>
      </p:pic>
      <p:sp>
        <p:nvSpPr>
          <p:cNvPr id="13" name="Espaço Reservado para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387600"/>
            <a:ext cx="12192000" cy="4245212"/>
          </a:xfrm>
          <a:prstGeom prst="rect">
            <a:avLst/>
          </a:prstGeom>
        </p:spPr>
        <p:txBody>
          <a:bodyPr/>
          <a:lstStyle>
            <a:lvl1pPr algn="ctr">
              <a:buNone/>
              <a:defRPr sz="2200" b="1" i="1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TEXTO</a:t>
            </a:r>
            <a:endParaRPr lang="pt-BR" dirty="0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1" hasCustomPrompt="1"/>
          </p:nvPr>
        </p:nvSpPr>
        <p:spPr>
          <a:xfrm>
            <a:off x="2131219" y="382588"/>
            <a:ext cx="7929562" cy="941387"/>
          </a:xfrm>
          <a:prstGeom prst="rect">
            <a:avLst/>
          </a:prstGeom>
        </p:spPr>
        <p:txBody>
          <a:bodyPr/>
          <a:lstStyle>
            <a:lvl1pPr algn="ctr">
              <a:buNone/>
              <a:defRPr sz="4000" b="1" baseline="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r>
              <a:rPr lang="pt-BR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ATALHOS 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322781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709CC232-D3EB-DEAC-D4F6-281456733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xmlns="" id="{77005AB1-27D9-0AF0-A364-55A4177135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92995" y="1924406"/>
            <a:ext cx="6006010" cy="2458672"/>
          </a:xfrm>
          <a:prstGeom prst="rect">
            <a:avLst/>
          </a:prstGeom>
        </p:spPr>
      </p:pic>
      <p:sp>
        <p:nvSpPr>
          <p:cNvPr id="5" name="CaixaDeTexto 4"/>
          <p:cNvSpPr txBox="1"/>
          <p:nvPr userDrawn="1"/>
        </p:nvSpPr>
        <p:spPr>
          <a:xfrm>
            <a:off x="4026090" y="4162567"/>
            <a:ext cx="416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OBRIGADO</a:t>
            </a:r>
            <a:endParaRPr lang="pt-BR" b="1" i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6" name="Imagem 5" descr="Logotipo">
            <a:extLst>
              <a:ext uri="{FF2B5EF4-FFF2-40B4-BE49-F238E27FC236}">
                <a16:creationId xmlns:a16="http://schemas.microsoft.com/office/drawing/2014/main" xmlns="" id="{A4E5AF2A-220C-79B4-A037-13101D8B44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2347415"/>
            <a:ext cx="2905125" cy="1571625"/>
          </a:xfrm>
          <a:prstGeom prst="rect">
            <a:avLst/>
          </a:prstGeom>
        </p:spPr>
      </p:pic>
      <p:pic>
        <p:nvPicPr>
          <p:cNvPr id="7" name="Imagem 6" descr="cps-removebg-preview.png">
            <a:extLst>
              <a:ext uri="{FF2B5EF4-FFF2-40B4-BE49-F238E27FC236}">
                <a16:creationId xmlns:a16="http://schemas.microsoft.com/office/drawing/2014/main" xmlns="" id="{96A2F0B1-018F-9D4C-90AE-84101272AD0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48875" y="193767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5382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56406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xmlns="" id="{B8D3994E-2F48-AC7A-CB89-89DE77EB8EAA}"/>
              </a:ext>
            </a:extLst>
          </p:cNvPr>
          <p:cNvSpPr txBox="1">
            <a:spLocks/>
          </p:cNvSpPr>
          <p:nvPr/>
        </p:nvSpPr>
        <p:spPr>
          <a:xfrm flipH="1">
            <a:off x="7778374" y="5906911"/>
            <a:ext cx="45719" cy="45719"/>
          </a:xfrm>
          <a:prstGeom prst="rect">
            <a:avLst/>
          </a:prstGeom>
        </p:spPr>
        <p:txBody>
          <a:bodyPr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pt-BR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127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>
          <a:xfrm>
            <a:off x="0" y="2387599"/>
            <a:ext cx="12192000" cy="4272507"/>
          </a:xfrm>
        </p:spPr>
        <p:txBody>
          <a:bodyPr/>
          <a:lstStyle/>
          <a:p>
            <a:r>
              <a:rPr lang="pt-BR" sz="2800" dirty="0" smtClean="0"/>
              <a:t>No ambiente de Tecnologia e Gestão, a eficiência operacional não depende apenas do hardware utilizado, mas da proficiência do operador na interface homem-máquina</a:t>
            </a:r>
            <a:r>
              <a:rPr lang="pt-BR" sz="2800" dirty="0" smtClean="0"/>
              <a:t>.</a:t>
            </a:r>
          </a:p>
          <a:p>
            <a:r>
              <a:rPr lang="pt-BR" sz="2800" dirty="0" smtClean="0"/>
              <a:t> </a:t>
            </a:r>
            <a:r>
              <a:rPr lang="pt-BR" sz="2800" dirty="0" smtClean="0"/>
              <a:t>O uso de atalhos de teclado (</a:t>
            </a:r>
            <a:r>
              <a:rPr lang="pt-BR" sz="2800" dirty="0" err="1" smtClean="0"/>
              <a:t>hotkeys</a:t>
            </a:r>
            <a:r>
              <a:rPr lang="pt-BR" sz="2800" dirty="0" smtClean="0"/>
              <a:t>) reduz a latência entre a intenção e a execução, minimiza o esforço repetitivo (prevenção de LER/DORT) e demonstra um perfil técnico avançado, essencial para o mercado de trabalho atual.</a:t>
            </a:r>
            <a:endParaRPr lang="pt-BR" sz="28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smtClean="0"/>
              <a:t>O Sistema Operacional é a base de toda a operação. Dominar seus atalhos permite uma transição fluida entre ferramentas.</a:t>
            </a:r>
          </a:p>
          <a:p>
            <a:r>
              <a:rPr lang="pt-BR" dirty="0" err="1" smtClean="0"/>
              <a:t>Win</a:t>
            </a:r>
            <a:r>
              <a:rPr lang="pt-BR" dirty="0" smtClean="0"/>
              <a:t> + E: Abre o Explorador de Arquivos (essencial para gestão de diretórios).</a:t>
            </a:r>
          </a:p>
          <a:p>
            <a:r>
              <a:rPr lang="pt-BR" dirty="0" err="1" smtClean="0"/>
              <a:t>Win</a:t>
            </a:r>
            <a:r>
              <a:rPr lang="pt-BR" dirty="0" smtClean="0"/>
              <a:t> + D: Minimiza todas as janelas imediatamente (foco no desktop).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</a:t>
            </a:r>
            <a:r>
              <a:rPr lang="pt-BR" dirty="0" err="1" smtClean="0"/>
              <a:t>Shift</a:t>
            </a:r>
            <a:r>
              <a:rPr lang="pt-BR" dirty="0" smtClean="0"/>
              <a:t> + </a:t>
            </a:r>
            <a:r>
              <a:rPr lang="pt-BR" dirty="0" err="1" smtClean="0"/>
              <a:t>Esc</a:t>
            </a:r>
            <a:r>
              <a:rPr lang="pt-BR" dirty="0" smtClean="0"/>
              <a:t>: Acesso direto ao Gerenciador de Tarefas para monitoramento de processos e consumo de recursos (RAM/CPU).</a:t>
            </a:r>
          </a:p>
          <a:p>
            <a:r>
              <a:rPr lang="pt-BR" dirty="0" err="1" smtClean="0"/>
              <a:t>Win</a:t>
            </a:r>
            <a:r>
              <a:rPr lang="pt-BR" dirty="0" smtClean="0"/>
              <a:t> + Direita/Esquerda: </a:t>
            </a:r>
            <a:r>
              <a:rPr lang="pt-BR" dirty="0" err="1" smtClean="0"/>
              <a:t>Snap</a:t>
            </a:r>
            <a:r>
              <a:rPr lang="pt-BR" dirty="0" smtClean="0"/>
              <a:t> </a:t>
            </a:r>
            <a:r>
              <a:rPr lang="pt-BR" dirty="0" err="1" smtClean="0"/>
              <a:t>Assist</a:t>
            </a:r>
            <a:r>
              <a:rPr lang="pt-BR" dirty="0" smtClean="0"/>
              <a:t> para dividir a tela, permitindo o </a:t>
            </a:r>
            <a:r>
              <a:rPr lang="pt-BR" dirty="0" err="1" smtClean="0"/>
              <a:t>multitasking</a:t>
            </a:r>
            <a:r>
              <a:rPr lang="pt-BR" dirty="0" smtClean="0"/>
              <a:t> técnico (ex: ler documentação enquanto executa o software).</a:t>
            </a:r>
          </a:p>
          <a:p>
            <a:r>
              <a:rPr lang="pt-BR" dirty="0" err="1" smtClean="0"/>
              <a:t>Win</a:t>
            </a:r>
            <a:r>
              <a:rPr lang="pt-BR" dirty="0" smtClean="0"/>
              <a:t> + V: Acessa o histórico da área de transferência (Clipboard), fundamental para quem lida com múltiplos dados simultâneos.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ATALHOS DO WINDOWS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smtClean="0"/>
              <a:t>Para um técnico, o Excel é uma ferramenta de análise, não apenas uma tabela. Velocidade aqui é crucial para o processamento de dados.</a:t>
            </a:r>
          </a:p>
          <a:p>
            <a:r>
              <a:rPr lang="pt-BR" dirty="0" smtClean="0"/>
              <a:t>F2: Entra no modo de edição da célula ativa sem usar o mouse.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</a:t>
            </a:r>
            <a:r>
              <a:rPr lang="pt-BR" dirty="0" err="1" smtClean="0"/>
              <a:t>Shift</a:t>
            </a:r>
            <a:r>
              <a:rPr lang="pt-BR" dirty="0" smtClean="0"/>
              <a:t> + L: Aplica ou remove filtros instantaneamente em um </a:t>
            </a:r>
            <a:r>
              <a:rPr lang="pt-BR" dirty="0" err="1" smtClean="0"/>
              <a:t>dataset</a:t>
            </a:r>
            <a:r>
              <a:rPr lang="pt-BR" dirty="0" smtClean="0"/>
              <a:t>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+ 1: Abre a caixa de formatação de célula (ajuste de tipos de dados: Moeda, Data, Porcentagem).</a:t>
            </a:r>
          </a:p>
          <a:p>
            <a:r>
              <a:rPr lang="pt-BR" dirty="0" err="1" smtClean="0"/>
              <a:t>Alt</a:t>
            </a:r>
            <a:r>
              <a:rPr lang="pt-BR" dirty="0" smtClean="0"/>
              <a:t> + =: Insere a função de Auto-Soma automaticamente.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; (ponto e vírgula): Insere a data atual do sistema (útil para </a:t>
            </a:r>
            <a:r>
              <a:rPr lang="pt-BR" dirty="0" err="1" smtClean="0"/>
              <a:t>logs</a:t>
            </a:r>
            <a:r>
              <a:rPr lang="pt-BR" dirty="0" smtClean="0"/>
              <a:t> de atividades).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</a:t>
            </a:r>
            <a:r>
              <a:rPr lang="pt-BR" dirty="0" err="1" smtClean="0"/>
              <a:t>Shift</a:t>
            </a:r>
            <a:r>
              <a:rPr lang="pt-BR" dirty="0" smtClean="0"/>
              <a:t> + Setas: Seleciona todos os dados até a última célula preenchida (navegação em grandes matrizes).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ATALHOS </a:t>
            </a:r>
            <a:r>
              <a:rPr lang="pt-BR" dirty="0" smtClean="0"/>
              <a:t>DO EXCEL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smtClean="0"/>
              <a:t>A documentação de projetos exige padronização. Estes atalhos garantem que a formatação siga as normas técnicas sem perda de tempo.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</a:t>
            </a:r>
            <a:r>
              <a:rPr lang="pt-BR" dirty="0" err="1" smtClean="0"/>
              <a:t>Shift</a:t>
            </a:r>
            <a:r>
              <a:rPr lang="pt-BR" dirty="0" smtClean="0"/>
              <a:t> + C e </a:t>
            </a:r>
            <a:r>
              <a:rPr lang="pt-BR" dirty="0" err="1" smtClean="0"/>
              <a:t>Ctrl</a:t>
            </a:r>
            <a:r>
              <a:rPr lang="pt-BR" dirty="0" smtClean="0"/>
              <a:t> + </a:t>
            </a:r>
            <a:r>
              <a:rPr lang="pt-BR" dirty="0" err="1" smtClean="0"/>
              <a:t>Shift</a:t>
            </a:r>
            <a:r>
              <a:rPr lang="pt-BR" dirty="0" smtClean="0"/>
              <a:t> + V: Copia e cola apenas a formatação (Pincel de Formatação), garantindo a uniformidade do documento.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</a:t>
            </a:r>
            <a:r>
              <a:rPr lang="pt-BR" dirty="0" err="1" smtClean="0"/>
              <a:t>Enter</a:t>
            </a:r>
            <a:r>
              <a:rPr lang="pt-BR" dirty="0" smtClean="0"/>
              <a:t>: Insere uma quebra de página. Técnica correta para iniciar novos capítulos, ao contrário de pressionar "</a:t>
            </a:r>
            <a:r>
              <a:rPr lang="pt-BR" dirty="0" err="1" smtClean="0"/>
              <a:t>Enter</a:t>
            </a:r>
            <a:r>
              <a:rPr lang="pt-BR" dirty="0" smtClean="0"/>
              <a:t>" múltiplas vezes.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</a:t>
            </a:r>
            <a:r>
              <a:rPr lang="pt-BR" dirty="0" err="1" smtClean="0"/>
              <a:t>Shift</a:t>
            </a:r>
            <a:r>
              <a:rPr lang="pt-BR" dirty="0" smtClean="0"/>
              <a:t> + E: Ativa o controle de alterações (essencial para revisão técnica em grupo).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K: Insere hiperlinks para referências externas ou documentação técnica.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+ 0 (zero): Adiciona ou remove 12 pontos de espaçamento antes de um parágrafo.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ATALHOS DO WORLD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 smtClean="0"/>
              <a:t>Na hora de apresentar um projeto na ETEC, a fluidez demonstra domínio sobre o tema.</a:t>
            </a:r>
          </a:p>
          <a:p>
            <a:r>
              <a:rPr lang="pt-BR" dirty="0" smtClean="0"/>
              <a:t>F5 / </a:t>
            </a:r>
            <a:r>
              <a:rPr lang="pt-BR" dirty="0" err="1" smtClean="0"/>
              <a:t>Shift</a:t>
            </a:r>
            <a:r>
              <a:rPr lang="pt-BR" dirty="0" smtClean="0"/>
              <a:t> + F5: Inicia a apresentação do começo ou do slide atual, respectivamente.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D: Duplica objetos ou slides inteiros (mantendo o alinhamento).</a:t>
            </a:r>
          </a:p>
          <a:p>
            <a:r>
              <a:rPr lang="pt-BR" dirty="0" smtClean="0"/>
              <a:t>Tecla B (Black) ou W (White): Escurece ou clareia a tela durante a apresentação para redirecionar a atenção do público para o palestrante.</a:t>
            </a:r>
          </a:p>
          <a:p>
            <a:r>
              <a:rPr lang="pt-BR" dirty="0" err="1" smtClean="0"/>
              <a:t>Ctrl</a:t>
            </a:r>
            <a:r>
              <a:rPr lang="pt-BR" dirty="0" smtClean="0"/>
              <a:t> + P: Ativa a caneta durante a apresentação para marcações técnicas em tempo real sobre o slide.</a:t>
            </a:r>
          </a:p>
          <a:p>
            <a:r>
              <a:rPr lang="pt-BR" dirty="0" err="1" smtClean="0"/>
              <a:t>Alt</a:t>
            </a:r>
            <a:r>
              <a:rPr lang="pt-BR" dirty="0" smtClean="0"/>
              <a:t> + F5: Abre o "Modo do Apresentador", permitindo visualizar notas de orador e o próximo slide em um monitor secundário.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>
          <a:xfrm>
            <a:off x="2131219" y="382588"/>
            <a:ext cx="8241080" cy="941387"/>
          </a:xfrm>
        </p:spPr>
        <p:txBody>
          <a:bodyPr/>
          <a:lstStyle/>
          <a:p>
            <a:r>
              <a:rPr lang="pt-BR" dirty="0" smtClean="0"/>
              <a:t>ATALHOS DO POWERPOINT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2800" dirty="0" smtClean="0"/>
              <a:t>A adoção desses atalhos exige o que chamamos de memória muscular. Inicialmente, há um esforço cognitivo para memorizá-los, mas a médio prazo, o ganho de produtividade é exponencial</a:t>
            </a:r>
            <a:r>
              <a:rPr lang="pt-BR" sz="2800" dirty="0" smtClean="0"/>
              <a:t>.</a:t>
            </a:r>
          </a:p>
          <a:p>
            <a:r>
              <a:rPr lang="pt-BR" sz="2800" dirty="0" smtClean="0"/>
              <a:t> </a:t>
            </a:r>
            <a:r>
              <a:rPr lang="pt-BR" sz="2800" dirty="0" smtClean="0"/>
              <a:t>Para nós, estudantes técnicos, a </a:t>
            </a:r>
            <a:r>
              <a:rPr lang="pt-BR" sz="2800" dirty="0" err="1" smtClean="0"/>
              <a:t>mastery</a:t>
            </a:r>
            <a:r>
              <a:rPr lang="pt-BR" sz="2800" dirty="0" smtClean="0"/>
              <a:t> dessas ferramentas não é apenas um detalhe, mas um requisito para uma performance profissional de alto nível, otimizando o tempo de entrega e a precisão técnica nas tarefas diárias</a:t>
            </a:r>
            <a:endParaRPr lang="pt-BR" sz="28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B7F9E381-056B-491C-71C0-B64F1433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2048CA6E-79FE-BF7D-AF35-0F458ED105B9}"/>
              </a:ext>
            </a:extLst>
          </p:cNvPr>
          <p:cNvSpPr txBox="1">
            <a:spLocks/>
          </p:cNvSpPr>
          <p:nvPr/>
        </p:nvSpPr>
        <p:spPr>
          <a:xfrm>
            <a:off x="4574087" y="4794337"/>
            <a:ext cx="3043825" cy="275573"/>
          </a:xfrm>
          <a:prstGeom prst="rect">
            <a:avLst/>
          </a:prstGeom>
        </p:spPr>
        <p:txBody>
          <a:bodyPr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pt-BR" sz="18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1182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662</Words>
  <Application>Microsoft Macintosh PowerPoint</Application>
  <PresentationFormat>Personalizar</PresentationFormat>
  <Paragraphs>35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Rocha</dc:creator>
  <cp:lastModifiedBy>User</cp:lastModifiedBy>
  <cp:revision>10</cp:revision>
  <dcterms:created xsi:type="dcterms:W3CDTF">2023-03-16T21:20:46Z</dcterms:created>
  <dcterms:modified xsi:type="dcterms:W3CDTF">2026-04-29T03:12:21Z</dcterms:modified>
</cp:coreProperties>
</file>